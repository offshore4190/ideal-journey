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2960"/>
                </a:solidFill>
              </a:defRPr>
            </a:pPr>
            <a:r>
              <a:t>第23页: 美股11轮牛市——制度红利+科技周期+货币宽松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97280" y="1371600"/>
            <a:ext cx="6949440" cy="0"/>
          </a:xfrm>
          <a:prstGeom prst="line">
            <a:avLst/>
          </a:prstGeom>
          <a:ln w="38100">
            <a:solidFill>
              <a:srgbClr val="0065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960120" y="1234440"/>
            <a:ext cx="274320" cy="274320"/>
          </a:xfrm>
          <a:prstGeom prst="ellipse">
            <a:avLst/>
          </a:prstGeom>
          <a:solidFill>
            <a:srgbClr val="0065BD"/>
          </a:solidFill>
          <a:ln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065BD"/>
                </a:solidFill>
              </a:defRPr>
            </a:pPr>
            <a:r>
              <a:t>1933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002960"/>
                </a:solidFill>
              </a:defRPr>
            </a:pPr>
            <a:r>
              <a:t>证券法体系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808080"/>
                </a:solidFill>
              </a:defRPr>
            </a:pPr>
            <a:r>
              <a:t>制度红利</a:t>
            </a:r>
          </a:p>
        </p:txBody>
      </p:sp>
      <p:sp>
        <p:nvSpPr>
          <p:cNvPr id="8" name="Oval 7"/>
          <p:cNvSpPr/>
          <p:nvPr/>
        </p:nvSpPr>
        <p:spPr>
          <a:xfrm>
            <a:off x="2697480" y="1234440"/>
            <a:ext cx="274320" cy="274320"/>
          </a:xfrm>
          <a:prstGeom prst="ellipse">
            <a:avLst/>
          </a:prstGeom>
          <a:solidFill>
            <a:srgbClr val="0065BD"/>
          </a:solidFill>
          <a:ln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914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065BD"/>
                </a:solidFill>
              </a:defRPr>
            </a:pPr>
            <a:r>
              <a:t>1971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600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002960"/>
                </a:solidFill>
              </a:defRPr>
            </a:pPr>
            <a:r>
              <a:t>布雷顿森林体系瓦解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874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808080"/>
                </a:solidFill>
              </a:defRPr>
            </a:pPr>
            <a:r>
              <a:t>美元霸权</a:t>
            </a:r>
          </a:p>
        </p:txBody>
      </p:sp>
      <p:sp>
        <p:nvSpPr>
          <p:cNvPr id="12" name="Oval 11"/>
          <p:cNvSpPr/>
          <p:nvPr/>
        </p:nvSpPr>
        <p:spPr>
          <a:xfrm>
            <a:off x="4434840" y="1234440"/>
            <a:ext cx="274320" cy="274320"/>
          </a:xfrm>
          <a:prstGeom prst="ellipse">
            <a:avLst/>
          </a:prstGeom>
          <a:solidFill>
            <a:srgbClr val="0065BD"/>
          </a:solidFill>
          <a:ln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914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065BD"/>
                </a:solidFill>
              </a:defRPr>
            </a:pPr>
            <a:r>
              <a:t>1995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600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002960"/>
                </a:solidFill>
              </a:defRPr>
            </a:pPr>
            <a:r>
              <a:t>互联网泡沫 + PC时代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874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808080"/>
                </a:solidFill>
              </a:defRPr>
            </a:pPr>
            <a:r>
              <a:t>科技创新</a:t>
            </a:r>
          </a:p>
        </p:txBody>
      </p:sp>
      <p:sp>
        <p:nvSpPr>
          <p:cNvPr id="16" name="Oval 15"/>
          <p:cNvSpPr/>
          <p:nvPr/>
        </p:nvSpPr>
        <p:spPr>
          <a:xfrm>
            <a:off x="6172200" y="1234440"/>
            <a:ext cx="274320" cy="274320"/>
          </a:xfrm>
          <a:prstGeom prst="ellipse">
            <a:avLst/>
          </a:prstGeom>
          <a:solidFill>
            <a:srgbClr val="0065BD"/>
          </a:solidFill>
          <a:ln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914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065BD"/>
                </a:solidFill>
              </a:defRPr>
            </a:pPr>
            <a:r>
              <a:t>2009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1600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002960"/>
                </a:solidFill>
              </a:defRPr>
            </a:pPr>
            <a:r>
              <a:t>金融危机后QE时代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1874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808080"/>
                </a:solidFill>
              </a:defRPr>
            </a:pPr>
            <a:r>
              <a:t>货币扩张</a:t>
            </a:r>
          </a:p>
        </p:txBody>
      </p:sp>
      <p:sp>
        <p:nvSpPr>
          <p:cNvPr id="20" name="Oval 19"/>
          <p:cNvSpPr/>
          <p:nvPr/>
        </p:nvSpPr>
        <p:spPr>
          <a:xfrm>
            <a:off x="7909560" y="1234440"/>
            <a:ext cx="274320" cy="274320"/>
          </a:xfrm>
          <a:prstGeom prst="ellipse">
            <a:avLst/>
          </a:prstGeom>
          <a:solidFill>
            <a:srgbClr val="0065BD"/>
          </a:solidFill>
          <a:ln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9144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065BD"/>
                </a:solidFill>
              </a:defRPr>
            </a:pPr>
            <a:r>
              <a:t>2020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600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002960"/>
                </a:solidFill>
              </a:defRPr>
            </a:pPr>
            <a:r>
              <a:t>疫情后无限QE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1874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808080"/>
                </a:solidFill>
              </a:defRPr>
            </a:pPr>
            <a:r>
              <a:t>科技+货币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2286000"/>
            <a:ext cx="2377440" cy="1645920"/>
          </a:xfrm>
          <a:prstGeom prst="roundRect">
            <a:avLst/>
          </a:prstGeom>
          <a:solidFill>
            <a:srgbClr val="C9F0FF"/>
          </a:solidFill>
          <a:ln w="19050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1560" y="2377440"/>
            <a:ext cx="228600" cy="228600"/>
          </a:xfrm>
          <a:prstGeom prst="ellipse">
            <a:avLst/>
          </a:prstGeom>
          <a:solidFill>
            <a:srgbClr val="0065BD"/>
          </a:solidFill>
          <a:ln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2377440"/>
            <a:ext cx="228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377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2960"/>
                </a:solidFill>
              </a:defRPr>
            </a:pPr>
            <a:r>
              <a:t>制度红利(1933-1940)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2697480"/>
            <a:ext cx="2011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900">
                <a:solidFill>
                  <a:srgbClr val="002960"/>
                </a:solidFill>
              </a:defRPr>
            </a:pPr>
            <a:r>
              <a:t>• 1933证券法: 信息披露制度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900">
                <a:solidFill>
                  <a:srgbClr val="002960"/>
                </a:solidFill>
              </a:defRPr>
            </a:pPr>
            <a:r>
              <a:t>• 1934交易所法: SEC成立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900">
                <a:solidFill>
                  <a:srgbClr val="002960"/>
                </a:solidFill>
              </a:defRPr>
            </a:pPr>
            <a:r>
              <a:t>• 建立投资者信心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74720" y="2286000"/>
            <a:ext cx="2377440" cy="1645920"/>
          </a:xfrm>
          <a:prstGeom prst="roundRect">
            <a:avLst/>
          </a:prstGeom>
          <a:solidFill>
            <a:srgbClr val="C9F0FF"/>
          </a:solidFill>
          <a:ln w="19050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611880" y="2377440"/>
            <a:ext cx="228600" cy="228600"/>
          </a:xfrm>
          <a:prstGeom prst="ellipse">
            <a:avLst/>
          </a:prstGeom>
          <a:solidFill>
            <a:srgbClr val="0065BD"/>
          </a:solidFill>
          <a:ln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1880" y="2377440"/>
            <a:ext cx="228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2377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2960"/>
                </a:solidFill>
              </a:defRPr>
            </a:pPr>
            <a:r>
              <a:t>科技创新周期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2697480"/>
            <a:ext cx="2011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900">
                <a:solidFill>
                  <a:srgbClr val="002960"/>
                </a:solidFill>
              </a:defRPr>
            </a:pPr>
            <a:r>
              <a:t>• 1995-2000: 互联网革命(思科/微软)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900">
                <a:solidFill>
                  <a:srgbClr val="002960"/>
                </a:solidFill>
              </a:defRPr>
            </a:pPr>
            <a:r>
              <a:t>• 2007-2020: 移动互联网(苹果/FAANG)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900">
                <a:solidFill>
                  <a:srgbClr val="002960"/>
                </a:solidFill>
              </a:defRPr>
            </a:pPr>
            <a:r>
              <a:t>• 2020-现在: AI革命(Nvidia/微软/谷歌)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900">
                <a:solidFill>
                  <a:srgbClr val="002960"/>
                </a:solidFill>
              </a:defRPr>
            </a:pPr>
            <a:r>
              <a:t>• FAANG+微软市值占标普500超30%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35040" y="2286000"/>
            <a:ext cx="2377440" cy="1645920"/>
          </a:xfrm>
          <a:prstGeom prst="roundRect">
            <a:avLst/>
          </a:prstGeom>
          <a:solidFill>
            <a:srgbClr val="C9F0FF"/>
          </a:solidFill>
          <a:ln w="19050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172200" y="2377440"/>
            <a:ext cx="228600" cy="228600"/>
          </a:xfrm>
          <a:prstGeom prst="ellipse">
            <a:avLst/>
          </a:prstGeom>
          <a:solidFill>
            <a:srgbClr val="0065BD"/>
          </a:solidFill>
          <a:ln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2377440"/>
            <a:ext cx="228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2377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2960"/>
                </a:solidFill>
              </a:defRPr>
            </a:pPr>
            <a:r>
              <a:t>货币政策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2697480"/>
            <a:ext cx="2011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900">
                <a:solidFill>
                  <a:srgbClr val="002960"/>
                </a:solidFill>
              </a:defRPr>
            </a:pPr>
            <a:r>
              <a:t>• 2009-2014: QE1-QE3推动估值扩张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900">
                <a:solidFill>
                  <a:srgbClr val="002960"/>
                </a:solidFill>
              </a:defRPr>
            </a:pPr>
            <a:r>
              <a:t>• 2020: 无限QE+零利率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900">
                <a:solidFill>
                  <a:srgbClr val="002960"/>
                </a:solidFill>
              </a:defRPr>
            </a:pPr>
            <a:r>
              <a:t>• 标普500 PE从15倍→25倍(估值扩张贡献40%涨幅)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286000" y="4389120"/>
            <a:ext cx="4572000" cy="457200"/>
          </a:xfrm>
          <a:prstGeom prst="roundRect">
            <a:avLst/>
          </a:prstGeom>
          <a:solidFill>
            <a:srgbClr val="FFDB00"/>
          </a:solidFill>
          <a:ln w="25400">
            <a:solidFill>
              <a:srgbClr val="006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68880" y="4434840"/>
            <a:ext cx="42062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002960"/>
                </a:solidFill>
              </a:defRPr>
            </a:pPr>
            <a:r>
              <a:t>💡 美股牛市=制度信任×科技创新×流动性支持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